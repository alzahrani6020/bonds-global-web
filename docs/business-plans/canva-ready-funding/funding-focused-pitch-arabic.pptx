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ﺔﻳﺭﺎﻤﺜﺘﺳﺍ ﺔﺻﺮﻓ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>
                <a:solidFill>
                  <a:srgbClr val="F0C96A"/>
                </a:solidFill>
                <a:latin typeface="Arial"/>
              </a:rPr>
              <a:t>ﺔﻠﻤﺘﻜﻤﻟﺍ ﺮﻴﻏ ﺔﻳﺭﺎﻘﻌﻟﺍ ﻝﻮﺻﻷﺍ ﺀﺎﻴﺣﺇ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%20 - %19 ﻑﺪﻬﺘﺴﻣ ﻲﻠﺧﺍﺩ ﺪﺋﺎﻋ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2.5x - 4x ﻝﺎﻤﻟﺍ ﺱﺃﺭ ﺔﻔﻋﺎﻀﻣ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ﺽﻭﺮﻗ ﻻ · %100 ﻲﺗﺍﺫ ﻞﻳﻮﻤﺗ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ﻝﺎﻳﺭ ﻦﻴﻳﻼﻣ 5 :ﺔﻤﻫﺎﺴﻤﻠﻟ ﻰﻧﺩﻷﺍ ﺪﺤﻟﺍ 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؟ﻥﻵﺍ ﻞﻳﻮﻤﺘﻟﺍ ﺍﺫﺎﻤﻟ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ﻱﺩﻮﻌﺴﻟﺍ ﻕﻮﺴﻟﺍ ﻲﻓ ﺐﻠﻄﻟﺍ ﻲﻓ ﺓﺮﻓﻭﻭ ﺽﺮﻌﻟﺍ ﻲﻓ ﺺﻘﻧ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ﻕﻮﺒﺴﻣ ﺮﻴﻏ ﻞﻜﺸﺑ ﻱﺭﺎﻘﻌﻟﺍ ﻉﺎﻄﻘﻟﺍ ﻢﻋﺪﺗ 2030 ﺔﻳﺅﺭ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ﺓﺪﺟﻭ ﺽﺎﻳﺮﻟﺍ ﻲﻓ ﻞﻤﺘﻜﻣ ﺮﻴﻏ ﺭﺎﻘﻋ 7,000 ﻦﻣ ﺮﺜﻛﺃ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ﺪﺋﺍﻮﻌﻟﺍ ﺪﻳﺰﻳﻭ ﺮﻃﺎﺨﻤﻟﺍ ﻞﻠﻘﻳ ﺔﺻﺎﺤﻤﻟﺍ ﺝﺫﻮﻤﻧ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ﺔﻤﺋﺎﻘﻟﺍ ﻝﻮﺻﻷﺍ ﻦﻣ ﺃﺪﺒﻧ — ﺽﺍﺭﺃ ﺀﺍﺮﺸﻟ ﺔﺟﺎﺣ ﻻ 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ﺔﺻﺮﻔﻟﺍ ﻢﺠﺣ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ﻝﺎﻳﺭ ﺭﺎﻴﻠﻣ 730 :ﻱﺭﺎﻘﻌﻟﺍ ﻞﻳﻮﻤﺘﻟﺍ ﻢﺠﺣ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ﺎﻳﻮﻨﺳ %14.2+ :ﺔﻳﺭﺎﻘﻌﻟﺍ ﺕﺎﻘﻔﺼﻟﺍ ﻮﻤﻧ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%8.89 :ﺽﺎﻳﺮﻟﺍ ﻲﻓ ﻱﺭﺎﺠﻳﺇ ﺪﺋﺎﻋ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%7.89 :ﺓﺪﺟ ﻲﻓ ﻱﺭﺎﺠﻳﺇ ﺪﺋﺎﻋ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ﺓﺮﻜﺘﺒﻣ ﻝﻮﻠﺣ ﻦﻋ ﺚﺤﺒﻳ ﻢﺨﺿ ﻕﻮﺳ 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(ﺔﺻﺎﺤﻤﻟﺍ) ﺔﻛﺍﺮﺸﻟﺍ ﺝﺫﻮﻤﻧ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ﻞﻤﺘﻜﻤﻟﺍ ﺮﻴﻏ ﺭﺎﻘﻌﻟﺍ ﻡﺪﻘﻳ ﻚﻟﺎﻤﻟﺍ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ﺐﻴﻄﺸﺘﻟﺍﻭ ﺓﺭﺍﺩﻹﺍﻭ ﻞﻳﻮﻤﺘﻟﺍ ﻡﺪﻘﺗ ﺯﺪﻧﻮﺑ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ﺔﻤﻫﺎﺴﻤﻟﺍ ﺔﺒﺴﻧ ﺐﺴﺣ ﺡﺎﺑﺭﻷﺍ ﻊﻳﺯﻮﺗ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ﻡﺰﻠﻣ ﻢﻴﻜﺤﺗ ﻊﻣ ﺔﺤﺿﺍﻭ ﺩﻮﻘﻋ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ﻞﻣﺎﺷ ﻦﻴﻣﺄﺗﻭ ﺔﻴﻜﻨﺑ ﺕﻻﺎﻔﻛ 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ﺮﻤﺜﺘﺴﻤﻟﺍ ﻝﺎﻤﻟﺍ ﺱﺃﺭ ﻞﻜﻴﻫ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ﻝﺎﻳﺭ ﻥﻮﻴﻠﻣ 200 :ﺡﺮﺼﻤﻟﺍ ﻝﺎﻤﻟﺍ ﺱﺃﺭ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ﻝﺎﻳﺭ ﻥﻮﻴﻠﻣ 226 :ﻰﻟﻭﻷﺍ ﺔﻠﺣﺮﻤﻠﻟ ﻑﺪﻬﺘﺴﻤﻟﺍ ﺭﺎﻤﺜﺘﺳﻻﺍ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ﻦﻳﺮﻤﺜﺘﺴﻤﻟﺍﻭ ﻦﻴﻤﻫﺎﺴﻤﻟﺍ ﻦﻣ ﻲﺗﺍﺫ %100 :ﻞﻳﻮﻤﺘﻟﺍ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ﻱﻮﺑﺭ ﻞﻳﻮﻤﺗ ﻻ · ﻙﻮﻜﺻ ﻻ · ﺔﻴﻓﺮﺼﻣ ﺽﻭﺮﻗ ﻻ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ﻝﺎﻳﺭ ﻦﻴﻳﻼﻣ 5 :ﺔﻤﻫﺎﺴﻤﻠﻟ ﻰﻧﺩﻷﺍ ﺪﺤﻟﺍ 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ﻝﺎﻤﻟﺍ ﺱﺃﺭ ﺕﺎﻣﺍﺪﺨﺘﺳﺍ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(ﺱ.ﺭ ﻥﻮﻴﻠﻣ 124) %55 :ﻝﻮﺻﻷﺍ ﺐﻴﻄﺸﺗﻭ ﺀﺍﺮﺷ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(ﺱ.ﺭ ﻥﻮﻴﻠﻣ 45) %20 :ﻲﻠﻴﻐﺸﺗ ﻲﻃﺎﻴﺘﺣﺍ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(ﺱ.ﺭ ﻥﻮﻴﻠﻣ 23) %10 :ﺕﺎﻌﻴﺒﻤﻟﺍﻭ ﻖﻳﻮﺴﺘﻟﺍ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(ﺱ.ﺭ ﻥﻮﻴﻠﻣ 11) %5 :ﻥﻮﻧﺎﻘﻟﺍﻭ ﺕﺍﺭﺎﺸﺘﺳﻻﺍ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(ﺱ.ﺭ ﻥﻮﻴﻠﻣ 11) %5 :ﺔﻤﻈﻧﻷﺍﻭ ﺔﻴﻨﻘﺘﻟﺍ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(ﺱ.ﺭ ﻥﻮﻴﻠﻣ 11) %5 :ﺲﻴﺳﺄﺘﻟﺍﻭ ﺓﺭﺍﺩﻹﺍ 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IRR — ﺪﺋﺎﻌﻟﺍ ﺕﺎﻌﻗﻮﺗ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2x ﺔﻔﻋﺎﻀﻣ · IRR 16% :ﻢﺋﺎﺸﺘﻤﻟﺍ ﻮﻳﺭﺎﻨﻴﺴﻟﺍ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2.5x - 3x ﺔﻔﻋﺎﻀﻣ · IRR 19% - 20% :ﻊﻗﻮﺘﻤﻟﺍ ﻮﻳﺭﺎﻨﻴﺴﻟﺍ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4x ﺔﻔﻋﺎﻀﻣ · IRR 27% - 30% :ﻞﺋﺎﻔﺘﻤﻟﺍ ﻮﻳﺭﺎﻨﻴﺴﻟﺍ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ﺕﺍﻮﻨﺳ 10 - 7 :ﺭﺎﻤﺜﺘﺳﻻﺍ ﻖﻓﺃ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4 - 3 ﺔﻨﺴﻟﺍ :ﻝﺩﺎﻌﺘﻟﺍ ﺔﻄﻘﻧ 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ﻱﺪﻘﻨﻟﺍ ﻖﻓﺪﺘﻟﺍ ﻊﻗﻮﺗ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ﺐﻴﻄﺸﺗﻭ ﺭﺎﻤﺜﺘﺳﺍ :2-1 ﺕﺍﻮﻨﺴﻟﺍ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ﺔﻴﺑﺎﺠﻳﻺﻟ ﻝﻮﺤﺘﻟﺍ :3 ﺔﻨﺴﻟﺍ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ﺕﺎﻘﻓﺪﺘﻠﻟ ﻉﺭﺎﺴﺘﻣ ﻮﻤﻧ :7-4 ﺕﺍﻮﻨﺴﻟﺍ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ﺡﺎﺑﺭﺃ ﻊﻳﺯﻮﺗﻭ ﺭﺍﺮﻘﺘﺳﺍ :10-8 ﺕﺍﻮﻨﺴﻟﺍ 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ﺝﻭﺮﺨﻟﺍ ﺔﻄﺧ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1x ﺔﻔﻋﺎﻀﻣ · ﺝﺫﻮﻤﻨﻟﺍ ﺕﺎﺒﺛﺇ :2-1 ﺔﻨﺴﻟﺍ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1.5x ﺔﻔﻋﺎﻀﻣ · ﺭﺍﺮﻜﺘﻟﺍﻭ ﻮﻤﻨﻟﺍ :4-3 ﺔﻨﺴﻟﺍ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2.5x ﺔﻔﻋﺎﻀﻣ · ﻱﺭﺎﻤﺜﺘﺳﺍ ﻕﻭﺪﻨﺼﻟ ﻲﺋﺰﺟ ﺝﻭﺮﺧ :7-5 ﺔﻨﺴﻟﺍ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4x ﺔﻔﻋﺎﻀﻣ · ﺀﺍﺮﺸﻟﺍ ﺓﺩﺎﻋﺇ ﻭﺃ ﺡﺮﻄﻟﺍ :10-8 ﺔﻨﺴﻟﺍ 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ﺭﺎﻤﺜﺘﺳﻻﺍ ﺹﺮﻓ ﺔﻧﺭﺎﻘﻣ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ﻥﻮﻴﻠﻣ 50 · ﺔﻨﺳ 15 ﺓﺭﻭﺩ · IRR ~8% :ﻱﺪﻴﻠﻘﺘﻟﺍ ﺭﺎﻘﻌﻟﺍ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ﻥﻮﻴﻠﻣ 25 · ﺕﺍﻮﻨﺳ 10 ﺓﺭﻭﺩ · IRR ~12% :ﻱﺭﺎﻘﻌﻟﺍ ﻕﻭﺪﻨﺼﻟﺍ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ﻦﻴﻳﻼﻣ 5 ﻦﻣ · ﺕﺍﻮﻨﺳ 7 ﺓﺭﻭﺩ · IRR 19% - 20% :ﺯﺪﻧﻮﺑ 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ﺮﻤﺜﺘﺴﻤﻠﻟ ﺮﻃﺎﺨﻤﻟﺍ ﺓﺭﺍﺩﺇ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ﻝﻮﺻﻷﺍ ﻊﻴﻤﺟ ﻰﻠﻋ ﻞﻣﺎﺷ ﻦﻴﻣﺄﺗ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ﺔﻘﻔﺻ ﻞﻛ ﻞﺒﻗ ﻲﻧﻮﻧﺎﻗﻭ ﻲﺳﺪﻨﻫ ﺺﺤﻓ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ﻡﺰﻠﻣ ﻢﻴﻜﺤﺗ ﻊﻣ ﺔﺤﺿﺍﻭ ﺔﺻﺎﺤﻣ ﺩﻮﻘﻋ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ﻦﻴﻟﻭﺎﻘﻤﻟﺍ ﻰﻠﻋ ﺔﻴﻜﻨﺑ ﺕﻻﺎﻔﻛ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ﻖﻃﺎﻨﻣﻭ ﻝﻮﺻﺃ ﺓﺪﻋ ﻰﻠﻋ ﺔﻈﻔﺤﻤﻟﺍ ﻊﻳﻮﻨﺗ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ﺔﻛﺮﺸﻟﺍﻭ ﻦﻳﺮﻤﺜﺘﺴﻤﻟﺍ ﻝﺍﻮﻣﺃ ﻦﻴﺑ ﻞﺼﻓ 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ﻱﺭﺍﺩﻹﺍﻭ ﻲﻟﺎﻤﻟﺍ ﻖﻳﺮﻔﻟﺍ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ﻲﻧﺍﺮﻫﺰﻟﺍ ﻦﺴﺣ ﻦﺑ ﻝﻼﻃ .ﺩ :ﻲﻟﺎﻤﻟﺍ ﺭﺎﺸﺘﺴﻤﻟﺍ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ﺔﻳﺭﺎﻘﻌﻟﺍﻭ ﺔﻴﻟﺎﻤﻟﺍ ﻕﺍﻮﺳﻷﺍ ﻲﻓ ﺎﻣﺎﻋ +25 ﺓﺮﺒﺧ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ﺺﺼﺨﺘﻣ ﻲﻧﻮﻧﺎﻗﻭ ﻲﺳﺪﻨﻫ ﻖﻳﺮﻓ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ﻑﺎﻔﺷ ﻲﻟﺎﻣﻭ ﻱﺭﺍﺩﺇ ﻡﺎﻈﻧ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ﻦﻳﺮﻤﺜﺘﺴﻤﻠﻟ ﺔﻳﺭﻭﺩ ﺮﻳﺭﺎﻘﺗ 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ﺔﻣﺩﺎﻘﻟﺍ ﺕﺍﻮﻄﺨﻟﺍ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ﻝﺎﻳﺭ ﻥﻮﻴﻠﻣ 226 :ﻰﻟﻭﻷﺍ ﻞﻳﻮﻤﺘﻟﺍ ﺔﻟﻮﺟ ﻕﻼﻏﺇ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ﺺﻴﺧﺍﺮﺘﻟﺍ ﻰﻠﻋ ﻝﻮﺼﺤﻟﺍﻭ ﺔﻛﺮﺸﻟﺍ ﺲﻴﺳﺄﺗ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ﺓﺪﺟﻭ ﺽﺎﻳﺮﻟﺍ ﻲﻓ ﻊﻳﺭﺎﺸﻣ 3 ﻝﻭﺃ ﻕﻼﻃﺇ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ﺔﻠﻤﺘﻜﻤﻟﺍ ﺮﻴﻏ ﻝﻮﺻﻷﺍ ﺕﺎﻧﺎﻴﺑ ﺓﺪﻋﺎﻗ ﺀﺎﻨﺑ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ﺕﺍﻮﻨﺳ 5 ﻝﻼﺧ ﺔﻳﺩﻮﻌﺳ ﻥﺪﻣ 10 ﻰﻟﺇ ﻊﺳﻮﺘﻟﺍ 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nd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274320"/>
            <a:ext cx="1463040" cy="975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600" b="1">
                <a:solidFill>
                  <a:srgbClr val="D4A853"/>
                </a:solidFill>
                <a:latin typeface="Arial"/>
              </a:rPr>
              <a:t>ﺭﺎﻤﺜﺘﺳﻼﻟ ﺓﻮﻋﺪﻟﺍ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0">
                <a:solidFill>
                  <a:srgbClr val="F0C96A"/>
                </a:solidFill>
                <a:latin typeface="Arial"/>
              </a:rPr>
              <a:t>ﺪﻳﺮﻓ ﻱﺭﺎﻤﺜﺘﺳﺍ ﺝﺫﻮﻤﻧ ﺀﺎﻨﺑ ﻲﻓ ﺎﻜﻳﺮﺷ ﻦﻛ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ﻝﺎﻳﺭ ﻦﻴﻳﻼﻣ 5 ﻦﻣ ﺃﺪﺒﻳ ﺭﺎﻤﺜﺘﺳﻻﺍ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%20 - %19 ﻑﺪﻬﺘﺴﻣ ﺪﺋﺎﻋ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ﻲﻧﺍﺮﻫﺰﻟﺍ ﻦﺴﺣ ﻦﺑ ﻝﻼﻃ .ﺩ •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• +966 56 756 6616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• info@bonds-global.com</a:t>
            </a:r>
          </a:p>
          <a:p>
            <a:pPr algn="r"/>
            <a:r>
              <a:rPr sz="2200">
                <a:solidFill>
                  <a:srgbClr val="E8ECF4"/>
                </a:solidFill>
                <a:latin typeface="Arial"/>
              </a:rPr>
              <a:t>• www.bonds-global.com</a:t>
            </a:r>
          </a:p>
        </p:txBody>
      </p:sp>
      <p:pic>
        <p:nvPicPr>
          <p:cNvPr id="8" name="Picture 7" descr="bonds-qr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029200"/>
            <a:ext cx="10972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126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Arial"/>
              </a:rPr>
              <a:t>info@bonds-global.com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