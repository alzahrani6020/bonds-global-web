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7432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Business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Real Estate Asset Revitalization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Financial Advisor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Dr. Talal bin Hassan Al-Zahrani</a:t>
            </a:r>
          </a:p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Unique investment model for revitalizing incomplete real estate assets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Partnership agreements with owners without purchasing land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Self-funded by founding shareholders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Compliance with Saudi Building Code and comprehensive insurance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Expected IRR of 19% - 20% over 10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Arial"/>
              </a:defRPr>
            </a:pPr>
            <a:r>
              <a:t>Problem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Thousands of incomplete buildings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Owners lack liquidity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Difficulty accessing reliable contractors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Complex legal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Arial"/>
              </a:defRPr>
            </a:pPr>
            <a:r>
              <a:t>Opportunity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Vision 2030 and real estate growth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Demand exceeds supply in major cities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High rental yields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Flexible and profitable partnership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Solution: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Identify incomplete real estate assets in target locations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Conduct engineering, legal, and financial assessment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Negotiate and sign clear partnership contract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Execute finishing works to highest quality standards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Market and sell units at market prices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Distribute profits between company and owner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Real Estate Market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Rental yield in Riyadh: 8.89%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Rental yield in Jeddah: 7.89%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Real estate transaction growth (2025): +14.2%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Real estate financing volume: SAR 730 billion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Price-to-demand gap: 6%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New construction premium: +25%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Target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Arial"/>
              </a:defRPr>
            </a:pPr>
            <a:r>
              <a:t>Riyadh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Premium North: Al-Aqeeq, Hittin, Al-Malqa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Northeast: Al-Munsiyah, Al-Rimal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Al-Yasmin, Al-Narjis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High rental yields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  <a:latin typeface="Arial"/>
              </a:defRPr>
            </a:pPr>
            <a:r>
              <a:t>Jeddah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North Coast: Abhur, Al-Sawari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Vibrant Center: Al-Hamra, Al-Naeem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Al-Zahra, Al-Salama</a:t>
            </a:r>
          </a:p>
          <a:p>
            <a:pPr algn="l">
              <a:spcAft>
                <a:spcPts val="800"/>
              </a:spcAft>
              <a:defRPr sz="1600">
                <a:solidFill>
                  <a:srgbClr val="0A0F1A"/>
                </a:solidFill>
                <a:latin typeface="Arial"/>
              </a:defRPr>
            </a:pPr>
            <a:r>
              <a:t>• Continuous residential and commercial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Partnership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Full Muhassah: Company handles finishing and marketing for profit share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Partial Purchase: Company buys part of units after finishing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Management Fee: Fixed fee for finishing and marketing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Hybrid Model: Mix of Muhassah, purchase, and management fees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Key Financial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Authorized Capital: SAR 200 million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Total Target Investment: SAR 226 million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Initial Investment: SAR 25 million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Expected IRR: 19% - 20%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Capital Return Multiple at Exit: 2.5x - 4x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Payback Period: 5.5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Revenue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Muhassah revenues: 60%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Resale and purchase profits: 25%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Management and marketing fees: 10%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Consulting and administrative services: 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Years 1-2: Proof of Concept (3-5 projects)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Years 3-5: Growth and Replication (6-10 projects annually)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Years 5-7: Strategic Exit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Options: Sale of controlling stake, partial IPO, or buyback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Risk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Comprehensive insurance (CAR, liability, hidden defects)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Engineering and legal inspection before contracting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Clear contracts with binding arbitration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Bank guarantees from contractors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10% risk reserve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Geographic diversification and multiple target segments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CEO: Strategy and investor relations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COO: Project management and quality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CFO: Cash flows and reporting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Commercial Director: Marketing and sales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Legal Director: Contracts and compliance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Hiring plan: 10-15 employees in Year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31520" cy="4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D4A853"/>
                </a:solidFill>
                <a:latin typeface="Arial"/>
              </a:defRPr>
            </a:pPr>
            <a:r>
              <a:t>Why Invest?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Unique model requiring no land purchase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Large market of incomplete assets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Self-funded without debt or sukuk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Attractive returns with calculated risks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Specialized management team and strong network</a:t>
            </a:r>
          </a:p>
          <a:p>
            <a:pPr algn="l">
              <a:spcAft>
                <a:spcPts val="1200"/>
              </a:spcAft>
              <a:defRPr sz="2000">
                <a:solidFill>
                  <a:srgbClr val="0A0F1A"/>
                </a:solidFill>
                <a:latin typeface="Arial"/>
              </a:defRPr>
            </a:pPr>
            <a:r>
              <a:t>• Clear and flexible exit options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74320"/>
            <a:ext cx="13716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853"/>
                </a:solidFill>
                <a:latin typeface="Arial"/>
              </a:defRPr>
            </a:pPr>
            <a:r>
              <a:t>Be a Partner in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Real Estate Asset Revitalization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53"/>
                </a:solidFill>
                <a:latin typeface="Arial"/>
              </a:defRPr>
            </a:pPr>
            <a:r>
              <a:t>Financial Advisor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Dr. Talal bin Hassan Al-Zahrani</a:t>
            </a:r>
          </a:p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+966 56 756 6616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